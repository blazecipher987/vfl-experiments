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Organisations want to collaborate on ML — but cannot share raw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94760" cy="47548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Hospital  /  Healthcare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3794760" cy="402336"/>
          </a:xfrm>
          <a:prstGeom prst="rect">
            <a:avLst/>
          </a:prstGeom>
          <a:solidFill>
            <a:srgbClr val="BBDEFB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4650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  Patient 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2"/>
            <a:ext cx="3794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  Diagnosis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05456"/>
            <a:ext cx="3794760" cy="402336"/>
          </a:xfrm>
          <a:prstGeom prst="rect">
            <a:avLst/>
          </a:prstGeom>
          <a:solidFill>
            <a:srgbClr val="BBDEFB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8775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  Blood Pressure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3794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0837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  Medication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30752"/>
            <a:ext cx="3794760" cy="475488"/>
          </a:xfrm>
          <a:prstGeom prst="rect">
            <a:avLst/>
          </a:prstGeom>
          <a:solidFill>
            <a:srgbClr val="2E7D32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LABELS  ✓   Treatment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1143000"/>
            <a:ext cx="3822191" cy="475488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207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Financial Institution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664208"/>
            <a:ext cx="3822191" cy="402336"/>
          </a:xfrm>
          <a:prstGeom prst="rect">
            <a:avLst/>
          </a:prstGeom>
          <a:solidFill>
            <a:srgbClr val="FFE0B2"/>
          </a:solidFill>
          <a:ln w="63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74650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100"/>
                </a:solidFill>
              </a:rPr>
              <a:t>  Credit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084832"/>
            <a:ext cx="382219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16712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100"/>
                </a:solidFill>
              </a:rPr>
              <a:t>  Annual Income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505456"/>
            <a:ext cx="3822191" cy="402336"/>
          </a:xfrm>
          <a:prstGeom prst="rect">
            <a:avLst/>
          </a:prstGeom>
          <a:solidFill>
            <a:srgbClr val="FFE0B2"/>
          </a:solidFill>
          <a:ln w="63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58775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100"/>
                </a:solidFill>
              </a:rPr>
              <a:t>  Loan History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926080"/>
            <a:ext cx="382219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00837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100"/>
                </a:solidFill>
              </a:rPr>
              <a:t>  Asset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730752"/>
            <a:ext cx="3822191" cy="4754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 Labels  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1143000"/>
            <a:ext cx="3520440" cy="1207008"/>
          </a:xfrm>
          <a:prstGeom prst="roundRect">
            <a:avLst/>
          </a:prstGeom>
          <a:solidFill>
            <a:srgbClr val="FFCCCC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B71C1C"/>
                </a:solidFill>
              </a:rPr>
              <a:t>Cannot share</a:t>
            </a:r>
          </a:p>
          <a:p>
            <a:pPr algn="ctr"/>
            <a:r>
              <a:rPr sz="1300" b="1" i="0">
                <a:solidFill>
                  <a:srgbClr val="B71C1C"/>
                </a:solidFill>
              </a:rPr>
              <a:t>raw data directly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39572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71C1C"/>
                </a:solidFill>
              </a:rPr>
              <a:t>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2944368"/>
            <a:ext cx="3520440" cy="1261872"/>
          </a:xfrm>
          <a:prstGeom prst="roundRect">
            <a:avLst/>
          </a:prstGeom>
          <a:solidFill>
            <a:srgbClr val="2E7D32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Vertical Federated</a:t>
            </a:r>
          </a:p>
          <a:p>
            <a:pPr algn="ctr"/>
            <a:r>
              <a:rPr sz="1400" b="1" i="0">
                <a:solidFill>
                  <a:srgbClr val="FFFFFF"/>
                </a:solidFill>
              </a:rPr>
              <a:t>Learning  (VFL)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2519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878"/>
                </a:solidFill>
              </a:rPr>
              <a:t>Train jointly  •  No raw data shared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0" y="2514600"/>
            <a:ext cx="228600" cy="0"/>
          </a:xfrm>
          <a:prstGeom prst="line">
            <a:avLst/>
          </a:prstGeom>
          <a:ln w="31750">
            <a:solidFill>
              <a:srgbClr val="E539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14800" y="3547872"/>
            <a:ext cx="228600" cy="0"/>
          </a:xfrm>
          <a:prstGeom prst="line">
            <a:avLst/>
          </a:prstGeom>
          <a:ln w="31750">
            <a:solidFill>
              <a:srgbClr val="43A0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63840" y="2514600"/>
            <a:ext cx="502920" cy="0"/>
          </a:xfrm>
          <a:prstGeom prst="line">
            <a:avLst/>
          </a:prstGeom>
          <a:ln w="31750">
            <a:solidFill>
              <a:srgbClr val="E539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63840" y="3547872"/>
            <a:ext cx="502920" cy="0"/>
          </a:xfrm>
          <a:prstGeom prst="line">
            <a:avLst/>
          </a:prstGeom>
          <a:ln w="31750">
            <a:solidFill>
              <a:srgbClr val="43A0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5029200"/>
            <a:ext cx="12188952" cy="1664208"/>
          </a:xfrm>
          <a:prstGeom prst="rect">
            <a:avLst/>
          </a:prstGeom>
          <a:solidFill>
            <a:srgbClr val="FFF3CD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102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F00"/>
                </a:solidFill>
              </a:rPr>
              <a:t>⚠   VFL Itself Has a Hidden Vulnerability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596128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 malicious participant can observe gradients and embedding geometry to infer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>the other party's private labels — without accessing raw data at 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Vertical Federated Learning (VFL)?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Feature-split collaborative training — no raw data leaves each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097280"/>
            <a:ext cx="3337560" cy="804672"/>
          </a:xfrm>
          <a:prstGeom prst="roundRect">
            <a:avLst/>
          </a:prstGeom>
          <a:solidFill>
            <a:srgbClr val="1B3A5C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SERVER  —  Top Model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(Aggregates embeddings, holds labels)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3566160" cy="4206240"/>
          </a:xfrm>
          <a:prstGeom prst="rect">
            <a:avLst/>
          </a:prstGeom>
          <a:solidFill>
            <a:srgbClr val="BBDEFB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04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Party A  (Adversary)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15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Features  0 –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63240"/>
            <a:ext cx="347472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7A1"/>
                </a:solidFill>
              </a:rPr>
              <a:t>  feature_0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47288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387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7A1"/>
                </a:solidFill>
              </a:rPr>
              <a:t>  feature_1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31336"/>
            <a:ext cx="347472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227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7A1"/>
                </a:solidFill>
              </a:rPr>
              <a:t>  feature_2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15384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0682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7A1"/>
                </a:solidFill>
              </a:rPr>
              <a:t>  feature_3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99432"/>
            <a:ext cx="347472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7A1"/>
                </a:solidFill>
              </a:rPr>
              <a:t>  feature_4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29200"/>
            <a:ext cx="347472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Bottom Model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559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7878"/>
                </a:solidFill>
              </a:rPr>
              <a:t>No labels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240280"/>
            <a:ext cx="3566160" cy="4206240"/>
          </a:xfrm>
          <a:prstGeom prst="rect">
            <a:avLst/>
          </a:prstGeom>
          <a:solidFill>
            <a:srgbClr val="C8E6C9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304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Party B  (Server-side)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715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Features  16 – 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3063240"/>
            <a:ext cx="3474720" cy="36576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1546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</a:rPr>
              <a:t>  feature_16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447288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5387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</a:rPr>
              <a:t>  feature_17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831336"/>
            <a:ext cx="3474720" cy="36576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9227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</a:rPr>
              <a:t>  feature_18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4215384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30682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</a:rPr>
              <a:t>  feature_19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4599432"/>
            <a:ext cx="3474720" cy="36576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6908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</a:rPr>
              <a:t>  feature_20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5029200"/>
            <a:ext cx="3474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Bottom Model B  +  LABELS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559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7878"/>
                </a:solidFill>
              </a:rPr>
              <a:t>Owns training labels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3840480" y="1572768"/>
            <a:ext cx="594360" cy="1536192"/>
          </a:xfrm>
          <a:prstGeom prst="line">
            <a:avLst/>
          </a:prstGeom>
          <a:ln w="31750">
            <a:solidFill>
              <a:srgbClr val="1E88E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547872" y="210312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8E5"/>
                </a:solidFill>
              </a:rPr>
              <a:t>z_A</a:t>
            </a:r>
          </a:p>
          <a:p>
            <a:pPr algn="ctr"/>
            <a:r>
              <a:rPr sz="900" b="1" i="0">
                <a:solidFill>
                  <a:srgbClr val="1E88E5"/>
                </a:solidFill>
              </a:rPr>
              <a:t>(embedding)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7772400" y="1572768"/>
            <a:ext cx="548640" cy="1536192"/>
          </a:xfrm>
          <a:prstGeom prst="line">
            <a:avLst/>
          </a:prstGeom>
          <a:ln w="31750">
            <a:solidFill>
              <a:srgbClr val="43A0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26679" y="210312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z_B</a:t>
            </a:r>
          </a:p>
          <a:p>
            <a:pPr algn="ctr"/>
            <a:r>
              <a:rPr sz="900" b="1" i="0">
                <a:solidFill>
                  <a:srgbClr val="2E7D32"/>
                </a:solidFill>
              </a:rPr>
              <a:t>(embedding)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3840480" y="1691640"/>
            <a:ext cx="594360" cy="1691640"/>
          </a:xfrm>
          <a:prstGeom prst="line">
            <a:avLst/>
          </a:prstGeom>
          <a:ln w="22860">
            <a:solidFill>
              <a:srgbClr val="42A5F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46120" y="24231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2A5F5"/>
                </a:solidFill>
              </a:rPr>
              <a:t>grad_A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72400" y="1691640"/>
            <a:ext cx="548640" cy="1691640"/>
          </a:xfrm>
          <a:prstGeom prst="line">
            <a:avLst/>
          </a:prstGeom>
          <a:ln w="22860">
            <a:solidFill>
              <a:srgbClr val="43A0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36992" y="24231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3A047"/>
                </a:solidFill>
              </a:rPr>
              <a:t>grad_B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3977639"/>
            <a:ext cx="3017520" cy="530352"/>
          </a:xfrm>
          <a:prstGeom prst="roundRect">
            <a:avLst/>
          </a:prstGeom>
          <a:solidFill>
            <a:srgbClr val="FFCCCC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B71C1C"/>
                </a:solidFill>
              </a:rPr>
              <a:t>✕  No Raw Data Shared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74320" y="6656832"/>
            <a:ext cx="11640312" cy="0"/>
          </a:xfrm>
          <a:prstGeom prst="line">
            <a:avLst/>
          </a:prstGeom>
          <a:ln w="9525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" y="667512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7878"/>
                </a:solidFill>
              </a:rPr>
              <a:t>Embeddings (z) flow UP  •  Gradients flow DOWN  •  Labels stay with owner  •  Raw features NEVER leave each party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Label Inference Attacks in VFL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Passive vs Active — both recover private labels without seeing raw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532120" cy="5504688"/>
          </a:xfrm>
          <a:prstGeom prst="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3212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PASSIVE  ATTACK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64208"/>
            <a:ext cx="2286000" cy="7315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 A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(Attacker)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64208"/>
            <a:ext cx="237744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 B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(Labels owner)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514600"/>
            <a:ext cx="2286000" cy="548640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0D47A1"/>
                </a:solidFill>
              </a:rPr>
              <a:t>Standard SGD</a:t>
            </a:r>
          </a:p>
          <a:p>
            <a:pPr algn="ctr"/>
            <a:r>
              <a:rPr sz="1000" b="0" i="0">
                <a:solidFill>
                  <a:srgbClr val="0D47A1"/>
                </a:solidFill>
              </a:rPr>
              <a:t>(unmodified)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878"/>
                </a:solidFill>
              </a:rPr>
              <a:t>VFL trains normally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47872"/>
            <a:ext cx="5257800" cy="1508760"/>
          </a:xfrm>
          <a:prstGeom prst="rect">
            <a:avLst/>
          </a:prstGeom>
          <a:solidFill>
            <a:srgbClr val="FFF3CD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F00"/>
                </a:solidFill>
              </a:rPr>
              <a:t>Stage 2 — Model 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05072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①  Load saved Party A bottom model (.pth)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②  Attach small inference head (FC layer)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③  Train via MixMatch SSL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④  Only 40 labeled samples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175504"/>
            <a:ext cx="5257800" cy="6217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Result:  84.61%  label recovery  (CIFAR-10, 100 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870448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878"/>
                </a:solidFill>
              </a:rPr>
              <a:t>Baseline threat — VFL design flaw, no optimizer changes</a:t>
            </a:r>
          </a:p>
        </p:txBody>
      </p:sp>
      <p:sp>
        <p:nvSpPr>
          <p:cNvPr id="18" name="Oval 17"/>
          <p:cNvSpPr/>
          <p:nvPr/>
        </p:nvSpPr>
        <p:spPr>
          <a:xfrm>
            <a:off x="5577840" y="3337560"/>
            <a:ext cx="1005840" cy="68580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4107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87878"/>
                </a:solidFill>
              </a:rPr>
              <a:t>VS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30368" cy="5504688"/>
          </a:xfrm>
          <a:prstGeom prst="rect">
            <a:avLst/>
          </a:prstGeom>
          <a:solidFill>
            <a:srgbClr val="FFFFFF"/>
          </a:solidFill>
          <a:ln w="317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3036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ACTIVE  ATTACK  (MaliciousSGD)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1664208"/>
            <a:ext cx="2377440" cy="73152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 A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(ACTIVE Attacker)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664208"/>
            <a:ext cx="2359152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 B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(Labels owner)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2514600"/>
            <a:ext cx="2377440" cy="566928"/>
          </a:xfrm>
          <a:prstGeom prst="roundRect">
            <a:avLst/>
          </a:prstGeom>
          <a:solidFill>
            <a:srgbClr val="FFCCCC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B71C1C"/>
                </a:solidFill>
              </a:rPr>
              <a:t>MaliciousSGD</a:t>
            </a:r>
          </a:p>
          <a:p>
            <a:pPr algn="ctr"/>
            <a:r>
              <a:rPr sz="1000" b="0" i="0">
                <a:solidFill>
                  <a:srgbClr val="B71C1C"/>
                </a:solidFill>
              </a:rPr>
              <a:t>p.grad ×  ratio  (up to ×5)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7878"/>
                </a:solidFill>
              </a:rPr>
              <a:t>ratio = clamp(1 + γ·(g_t / g_{t-1}),  1, 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3547872"/>
            <a:ext cx="4956048" cy="1508760"/>
          </a:xfrm>
          <a:prstGeom prst="rect">
            <a:avLst/>
          </a:prstGeom>
          <a:solidFill>
            <a:srgbClr val="FFF3CD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5935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F00"/>
                </a:solidFill>
              </a:rPr>
              <a:t>Stage 2 — Amplified 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005072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①  Embeddings are tightly clustered by class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②  MixMatch exploits cluster geometry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③  Same 40 labeled samples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④  Far higher label recovery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5175504"/>
            <a:ext cx="4956048" cy="6217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Result:  94.99%  (+10.4 pp over passive)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870448"/>
            <a:ext cx="4956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878"/>
                </a:solidFill>
              </a:rPr>
              <a:t>Amplified embeddings → MixMatch exploits class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Fisher-Based Detection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Server detects asymmetric embedding geometry — no access to Party A's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217920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407408"/>
            <a:ext cx="6217920" cy="868680"/>
          </a:xfrm>
          <a:prstGeom prst="rect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4805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Party B always looks like 'Benign' (J_B stays low)</a:t>
            </a:r>
          </a:p>
          <a:p>
            <a:pPr algn="l"/>
            <a:r>
              <a:rPr sz="1100" b="0" i="0">
                <a:solidFill>
                  <a:srgbClr val="1A1A2E"/>
                </a:solidFill>
              </a:rPr>
              <a:t>Server computes  Δ_F = J_A − J_B  each epoch — detects asymmetry!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49240"/>
            <a:ext cx="6217920" cy="502920"/>
          </a:xfrm>
          <a:prstGeom prst="rect">
            <a:avLst/>
          </a:prstGeom>
          <a:solidFill>
            <a:srgbClr val="EAD5F9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4406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1B9A"/>
                </a:solidFill>
              </a:rPr>
              <a:t>J  =  Tr(S_between) / Tr(S_within)      |      Δ_F  =  J_A  −  J_B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0789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</a:rPr>
              <a:t>Detection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481328"/>
            <a:ext cx="5074920" cy="10058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STEP 1 — Receive Embeddings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Server receives z_A and z_B each epoch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No access to model weights or raw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49740" y="2487168"/>
            <a:ext cx="0" cy="73152"/>
          </a:xfrm>
          <a:prstGeom prst="line">
            <a:avLst/>
          </a:prstGeom>
          <a:ln w="25400">
            <a:solidFill>
              <a:srgbClr val="0D47A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12280" y="2560320"/>
            <a:ext cx="5074920" cy="1005840"/>
          </a:xfrm>
          <a:prstGeom prst="roundRect">
            <a:avLst/>
          </a:prstGeom>
          <a:solidFill>
            <a:srgbClr val="EAD5F9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6A1B9A"/>
                </a:solidFill>
              </a:rPr>
              <a:t>STEP 2 — Compute Fisher Score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J = Tr(S_between) / Tr(S_within)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Computed independently for each party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49740" y="3566160"/>
            <a:ext cx="0" cy="73151"/>
          </a:xfrm>
          <a:prstGeom prst="line">
            <a:avLst/>
          </a:prstGeom>
          <a:ln w="25400">
            <a:solidFill>
              <a:srgbClr val="6A1B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12280" y="3639312"/>
            <a:ext cx="5074920" cy="100584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00696B"/>
                </a:solidFill>
              </a:rPr>
              <a:t>STEP 3 — Compute Divergence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Δ_F = J_A − J_B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&gt; 0  →  Party A is asymmetrically separable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49740" y="4645152"/>
            <a:ext cx="0" cy="73152"/>
          </a:xfrm>
          <a:prstGeom prst="line">
            <a:avLst/>
          </a:prstGeom>
          <a:ln w="25400">
            <a:solidFill>
              <a:srgbClr val="00696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2280" y="4718304"/>
            <a:ext cx="5074920" cy="1005840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FF8F00"/>
                </a:solidFill>
              </a:rPr>
              <a:t>STEP 4 — Threshold Comparison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If  Δ_F &gt; τ (0.10)  after  burn-in (8 ep):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Attack DETECTED  →  Defense fires  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5897880"/>
            <a:ext cx="5074920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CIFAR-10:  Gap = 0.564   |   CIFAR-100:  Gap = 0.129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Zero false positives on benign training 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Experimental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Two-stage pipeline  —  3 conditions per dataset  —  6 characterisation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1172260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Detection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Fisher divergence cleanly separates attack from benign on both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503920" cy="4069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06840" y="1097280"/>
            <a:ext cx="2880360" cy="1508760"/>
          </a:xfrm>
          <a:prstGeom prst="rect">
            <a:avLst/>
          </a:prstGeom>
          <a:solidFill>
            <a:srgbClr val="F5F7FA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06840" y="1097280"/>
            <a:ext cx="288036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 Reliable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6567" y="1554480"/>
            <a:ext cx="2679191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Benign ≈ 0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Active &gt;&gt; 0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Signal from epoch 4 (C10)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or epoch 8 (C100)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2697480"/>
            <a:ext cx="2880360" cy="1508760"/>
          </a:xfrm>
          <a:prstGeom prst="rect">
            <a:avLst/>
          </a:prstGeom>
          <a:solidFill>
            <a:srgbClr val="F5F7FA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6840" y="2697480"/>
            <a:ext cx="288036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 Zero 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6567" y="3154680"/>
            <a:ext cx="2679191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Defense never fires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on benign training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on either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4297680"/>
            <a:ext cx="2880360" cy="1508760"/>
          </a:xfrm>
          <a:prstGeom prst="rect">
            <a:avLst/>
          </a:prstGeom>
          <a:solidFill>
            <a:srgbClr val="F5F7FA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4297680"/>
            <a:ext cx="2880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 Attack-Proof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4754880"/>
            <a:ext cx="2679191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Gradient Compression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amplifies signal further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(0.444 → 0.521)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30368"/>
            <a:ext cx="8503920" cy="777240"/>
          </a:xfrm>
          <a:prstGeom prst="rect">
            <a:avLst/>
          </a:prstGeom>
          <a:solidFill>
            <a:srgbClr val="FFF3CD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6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Threshold τ = 0.10 (CIFAR-10)  |  τ = 0.07 (CIFAR-100)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Burn-in of 8 epochs prevents false alarms during noisy initialisation.  Signal stays stable for all remaining epochs.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 &amp;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What is confirmed — what is running right now —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76732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CONFIRMED 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767328" cy="5010912"/>
          </a:xfrm>
          <a:prstGeom prst="rect">
            <a:avLst/>
          </a:prstGeom>
          <a:solidFill>
            <a:srgbClr val="C8E6C9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82496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46504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Fisher divergence reliably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detects MaliciousSGD attack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478024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542032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Signal from epoch 4–8,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stable for all epochs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273552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337560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Zero false positives on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benign training (both datasets)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069080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133088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GC does not hide signal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→ detection still 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864608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928616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VFL utility cost minimal: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only  −1.77pp  (CIFAR-10)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660136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5724144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Novel finding: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Semantic misalignment mechanism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097280"/>
            <a:ext cx="3767328" cy="47548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 PROGRESS  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572768"/>
            <a:ext cx="3767328" cy="5010912"/>
          </a:xfrm>
          <a:prstGeom prst="rect">
            <a:avLst/>
          </a:prstGeom>
          <a:solidFill>
            <a:srgbClr val="FFF3CD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9976" y="1682496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1746504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100-epoch CIFAR-10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validation  (running now)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9976" y="2478024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2542032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Expected: active ~94%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Defended: target  &lt; 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9976" y="3273552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337560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Multi-seed runs  (×3)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for statistical confidence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9976" y="4069080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4133088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CIFAR-100  at 150-epoch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budget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79976" y="4864608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928616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Ablation  (α, τ sweep)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at correct epoch 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6" y="1097280"/>
            <a:ext cx="3767328" cy="4754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FUTURE WORK  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6176" y="1572768"/>
            <a:ext cx="3767328" cy="5010912"/>
          </a:xfrm>
          <a:prstGeom prst="rect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75904" y="1682496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7344" y="1746504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Stage 2 for GC &amp; Laplace DP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baselines (checkpoints ready)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478024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2542032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t-SNE:  visualise semantic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misalignment under defense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75904" y="3273552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3337560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Dataset extensions: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CINIC-10, TinyImageNet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75904" y="4069080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4133088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Adaptive threshold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(mean + 2σ during burn-in)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75904" y="4864608"/>
            <a:ext cx="354787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7344" y="4928616"/>
            <a:ext cx="3364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Theoretical bound: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grad suppression → alignment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Backup — Defense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751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How detection triggers asymmetric gradient perturbation (server-side only)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3017520" cy="105156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Detection fires: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Δ_F = J_A − J_B  &gt; τ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after epoch 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1627632"/>
            <a:ext cx="502920" cy="0"/>
          </a:xfrm>
          <a:prstGeom prst="line">
            <a:avLst/>
          </a:prstGeom>
          <a:ln w="31750">
            <a:solidFill>
              <a:srgbClr val="FF8F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40480" y="1097280"/>
            <a:ext cx="4343400" cy="1051560"/>
          </a:xfrm>
          <a:prstGeom prst="roundRect">
            <a:avLst/>
          </a:prstGeom>
          <a:solidFill>
            <a:srgbClr val="EAD5F9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Compute scale factor: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s = max(0,  1 − α(Δ_F − τ))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α = 1.0,  τ = 0.10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83879" y="1627632"/>
            <a:ext cx="502921" cy="0"/>
          </a:xfrm>
          <a:prstGeom prst="line">
            <a:avLst/>
          </a:prstGeom>
          <a:ln w="31750">
            <a:solidFill>
              <a:srgbClr val="6A1B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1097280"/>
            <a:ext cx="3182112" cy="1051560"/>
          </a:xfrm>
          <a:prstGeom prst="roundRect">
            <a:avLst/>
          </a:prstGeom>
          <a:solidFill>
            <a:srgbClr val="FFCCCC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Scale Party A's gradient: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grad_A  ←  grad_A × s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grad_B  UNCHANGED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40"/>
            <a:ext cx="11539728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414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the defense does  vs  what it cannot 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16352"/>
            <a:ext cx="11539728" cy="566928"/>
          </a:xfrm>
          <a:prstGeom prst="rect">
            <a:avLst/>
          </a:prstGeom>
          <a:solidFill>
            <a:srgbClr val="C8E6C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4436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Scales grad_output_A  (server → Party A communication tensor)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10712"/>
            <a:ext cx="11539728" cy="566928"/>
          </a:xfrm>
          <a:prstGeom prst="rect">
            <a:avLst/>
          </a:prstGeom>
          <a:solidFill>
            <a:srgbClr val="C8E6C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3872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Party B's gradient is completely untouched — zero collateral by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05072"/>
            <a:ext cx="11539728" cy="566928"/>
          </a:xfrm>
          <a:prstGeom prst="rect">
            <a:avLst/>
          </a:prstGeom>
          <a:solidFill>
            <a:srgbClr val="C8E6C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33087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Only fires when Δ_F &gt; τ — correct silence on benign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99432"/>
            <a:ext cx="11539728" cy="566928"/>
          </a:xfrm>
          <a:prstGeom prst="rect">
            <a:avLst/>
          </a:prstGeom>
          <a:solidFill>
            <a:srgbClr val="FFCCCC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274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✗  Cannot touch p.grad inside Party A — MaliciousSGD re-amplifies internally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93792"/>
            <a:ext cx="11539728" cy="566928"/>
          </a:xfrm>
          <a:prstGeom prst="rect">
            <a:avLst/>
          </a:prstGeom>
          <a:solidFill>
            <a:srgbClr val="FFCCCC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21807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✗  Does NOT reduce geometric cluster structure — Fisher divergence stays 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833872"/>
            <a:ext cx="11539728" cy="749808"/>
          </a:xfrm>
          <a:prstGeom prst="rect">
            <a:avLst/>
          </a:prstGeom>
          <a:solidFill>
            <a:srgbClr val="FFF3CD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8704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F00"/>
                </a:solidFill>
              </a:rPr>
              <a:t>Key Discovery — Semantic Misalignment: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6305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Fisher divergence INCREASES under defense (0.444 → 0.522).  Clusters stay geometrically separated but lose label correspondence.</a:t>
            </a:r>
          </a:p>
          <a:p>
            <a:pPr algn="l"/>
            <a:r>
              <a:rPr sz="1000" b="0" i="0">
                <a:solidFill>
                  <a:srgbClr val="1A1A2E"/>
                </a:solidFill>
              </a:rPr>
              <a:t>MixMatch SSL fails because cluster geometry no longer reflects class identity — a richer contribution than the original hypothesis.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